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7"/>
  </p:notesMasterIdLst>
  <p:sldIdLst>
    <p:sldId id="261" r:id="rId2"/>
    <p:sldId id="257" r:id="rId3"/>
    <p:sldId id="258" r:id="rId4"/>
    <p:sldId id="259" r:id="rId5"/>
    <p:sldId id="260" r:id="rId6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28"/>
    <p:restoredTop sz="94654"/>
  </p:normalViewPr>
  <p:slideViewPr>
    <p:cSldViewPr snapToGrid="0">
      <p:cViewPr varScale="1">
        <p:scale>
          <a:sx n="22" d="100"/>
          <a:sy n="22" d="100"/>
        </p:scale>
        <p:origin x="224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50D75-C17E-BD49-A710-65200148166B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662FF-C9FB-CD4D-B3AF-823F23B3F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3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313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627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29936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250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6563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59873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3186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6500" algn="l" defTabSz="368662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40637" y="-40644"/>
            <a:ext cx="44015059" cy="32999688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6859" y="11541763"/>
            <a:ext cx="27968251" cy="7902250"/>
          </a:xfrm>
        </p:spPr>
        <p:txBody>
          <a:bodyPr anchor="b">
            <a:noAutofit/>
          </a:bodyPr>
          <a:lstStyle>
            <a:lvl1pPr algn="r">
              <a:defRPr sz="2592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26859" y="19444006"/>
            <a:ext cx="27968251" cy="5265115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3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46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3" y="12964169"/>
            <a:ext cx="30469032" cy="8767589"/>
          </a:xfrm>
        </p:spPr>
        <p:txBody>
          <a:bodyPr anchor="b"/>
          <a:lstStyle>
            <a:lvl1pPr algn="l">
              <a:defRPr sz="19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731750"/>
            <a:ext cx="30469032" cy="4129920"/>
          </a:xfrm>
        </p:spPr>
        <p:txBody>
          <a:bodyPr anchor="t"/>
          <a:lstStyle>
            <a:lvl1pPr marL="0" indent="0" algn="l">
              <a:buNone/>
              <a:defRPr sz="9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8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0" y="2926080"/>
            <a:ext cx="30469027" cy="6339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26083" y="10370827"/>
            <a:ext cx="14822923" cy="18627706"/>
          </a:xfrm>
        </p:spPr>
        <p:txBody>
          <a:bodyPr>
            <a:normAutofit/>
          </a:bodyPr>
          <a:lstStyle>
            <a:lvl1pPr>
              <a:defRPr sz="8640"/>
            </a:lvl1pPr>
            <a:lvl2pPr>
              <a:defRPr sz="7680"/>
            </a:lvl2pPr>
            <a:lvl3pPr>
              <a:defRPr sz="6720"/>
            </a:lvl3pPr>
            <a:lvl4pPr>
              <a:defRPr sz="5760"/>
            </a:lvl4pPr>
            <a:lvl5pPr>
              <a:defRPr sz="5760"/>
            </a:lvl5pPr>
            <a:lvl6pPr>
              <a:defRPr sz="5760"/>
            </a:lvl6pPr>
            <a:lvl7pPr>
              <a:defRPr sz="5760"/>
            </a:lvl7pPr>
            <a:lvl8pPr>
              <a:defRPr sz="5760"/>
            </a:lvl8pPr>
            <a:lvl9pPr>
              <a:defRPr sz="57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72179" y="10370835"/>
            <a:ext cx="14822928" cy="18627710"/>
          </a:xfrm>
        </p:spPr>
        <p:txBody>
          <a:bodyPr>
            <a:normAutofit/>
          </a:bodyPr>
          <a:lstStyle>
            <a:lvl1pPr>
              <a:defRPr sz="8640"/>
            </a:lvl1pPr>
            <a:lvl2pPr>
              <a:defRPr sz="7680"/>
            </a:lvl2pPr>
            <a:lvl3pPr>
              <a:defRPr sz="6720"/>
            </a:lvl3pPr>
            <a:lvl4pPr>
              <a:defRPr sz="5760"/>
            </a:lvl4pPr>
            <a:lvl5pPr>
              <a:defRPr sz="5760"/>
            </a:lvl5pPr>
            <a:lvl6pPr>
              <a:defRPr sz="5760"/>
            </a:lvl6pPr>
            <a:lvl7pPr>
              <a:defRPr sz="5760"/>
            </a:lvl7pPr>
            <a:lvl8pPr>
              <a:defRPr sz="5760"/>
            </a:lvl8pPr>
            <a:lvl9pPr>
              <a:defRPr sz="57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81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8" y="2926080"/>
            <a:ext cx="30469022" cy="63398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5" y="10372718"/>
            <a:ext cx="14835226" cy="2766058"/>
          </a:xfrm>
        </p:spPr>
        <p:txBody>
          <a:bodyPr anchor="b">
            <a:noAutofit/>
          </a:bodyPr>
          <a:lstStyle>
            <a:lvl1pPr marL="0" indent="0">
              <a:buNone/>
              <a:defRPr sz="11520" b="0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26075" y="13138783"/>
            <a:ext cx="14835226" cy="1585976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59872" y="10372718"/>
            <a:ext cx="14835226" cy="2766058"/>
          </a:xfrm>
        </p:spPr>
        <p:txBody>
          <a:bodyPr anchor="b">
            <a:noAutofit/>
          </a:bodyPr>
          <a:lstStyle>
            <a:lvl1pPr marL="0" indent="0">
              <a:buNone/>
              <a:defRPr sz="11520" b="0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59872" y="13138783"/>
            <a:ext cx="14835226" cy="1585976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5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5" y="2926080"/>
            <a:ext cx="30469027" cy="6339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2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02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5" y="7193299"/>
            <a:ext cx="13392874" cy="6136637"/>
          </a:xfrm>
        </p:spPr>
        <p:txBody>
          <a:bodyPr anchor="b">
            <a:normAutofit/>
          </a:bodyPr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2122" y="2471642"/>
            <a:ext cx="16252978" cy="265268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75" y="13329934"/>
            <a:ext cx="13392874" cy="12405355"/>
          </a:xfrm>
        </p:spPr>
        <p:txBody>
          <a:bodyPr>
            <a:normAutofit/>
          </a:bodyPr>
          <a:lstStyle>
            <a:lvl1pPr marL="0" indent="0">
              <a:buNone/>
              <a:defRPr sz="672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1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5" y="23042880"/>
            <a:ext cx="30469027" cy="2720342"/>
          </a:xfrm>
        </p:spPr>
        <p:txBody>
          <a:bodyPr anchor="b">
            <a:normAutofit/>
          </a:bodyPr>
          <a:lstStyle>
            <a:lvl1pPr algn="l">
              <a:defRPr sz="115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26075" y="2926080"/>
            <a:ext cx="30469027" cy="18459446"/>
          </a:xfrm>
        </p:spPr>
        <p:txBody>
          <a:bodyPr anchor="t">
            <a:normAutofit/>
          </a:bodyPr>
          <a:lstStyle>
            <a:lvl1pPr marL="0" indent="0" algn="ctr">
              <a:buNone/>
              <a:defRPr sz="7680"/>
            </a:lvl1pPr>
            <a:lvl2pPr marL="2194560" indent="0">
              <a:buNone/>
              <a:defRPr sz="7680"/>
            </a:lvl2pPr>
            <a:lvl3pPr marL="4389120" indent="0">
              <a:buNone/>
              <a:defRPr sz="7680"/>
            </a:lvl3pPr>
            <a:lvl4pPr marL="6583680" indent="0">
              <a:buNone/>
              <a:defRPr sz="7680"/>
            </a:lvl4pPr>
            <a:lvl5pPr marL="8778240" indent="0">
              <a:buNone/>
              <a:defRPr sz="7680"/>
            </a:lvl5pPr>
            <a:lvl6pPr marL="10972800" indent="0">
              <a:buNone/>
              <a:defRPr sz="7680"/>
            </a:lvl6pPr>
            <a:lvl7pPr marL="13167360" indent="0">
              <a:buNone/>
              <a:defRPr sz="7680"/>
            </a:lvl7pPr>
            <a:lvl8pPr marL="15361920" indent="0">
              <a:buNone/>
              <a:defRPr sz="7680"/>
            </a:lvl8pPr>
            <a:lvl9pPr marL="17556480" indent="0">
              <a:buNone/>
              <a:defRPr sz="7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75" y="25763223"/>
            <a:ext cx="30469027" cy="3235315"/>
          </a:xfrm>
        </p:spPr>
        <p:txBody>
          <a:bodyPr>
            <a:normAutofit/>
          </a:bodyPr>
          <a:lstStyle>
            <a:lvl1pPr marL="0" indent="0">
              <a:buNone/>
              <a:defRPr sz="576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72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0" y="2926080"/>
            <a:ext cx="30469027" cy="16337280"/>
          </a:xfrm>
        </p:spPr>
        <p:txBody>
          <a:bodyPr anchor="ctr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80" y="21457920"/>
            <a:ext cx="30469027" cy="7540618"/>
          </a:xfrm>
        </p:spPr>
        <p:txBody>
          <a:bodyPr anchor="ctr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2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9448" y="2926080"/>
            <a:ext cx="29146474" cy="14508480"/>
          </a:xfrm>
        </p:spPr>
        <p:txBody>
          <a:bodyPr anchor="ctr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5155" y="17434560"/>
            <a:ext cx="26015059" cy="18288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768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>
              <a:buFontTx/>
              <a:buNone/>
              <a:defRPr/>
            </a:lvl2pPr>
            <a:lvl3pPr marL="4389120" indent="0">
              <a:buFontTx/>
              <a:buNone/>
              <a:defRPr/>
            </a:lvl3pPr>
            <a:lvl4pPr marL="6583680" indent="0">
              <a:buFontTx/>
              <a:buNone/>
              <a:defRPr/>
            </a:lvl4pPr>
            <a:lvl5pPr marL="877824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457920"/>
            <a:ext cx="30469032" cy="7540618"/>
          </a:xfrm>
        </p:spPr>
        <p:txBody>
          <a:bodyPr anchor="ctr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317015" y="3793814"/>
            <a:ext cx="2195131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/>
          <a:p>
            <a:pPr lvl="0"/>
            <a:r>
              <a:rPr lang="en-US" sz="384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88958" y="13855469"/>
            <a:ext cx="2195131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/>
          <a:p>
            <a:pPr lvl="0"/>
            <a:r>
              <a:rPr lang="en-US" sz="384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9392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73" y="9273542"/>
            <a:ext cx="30469032" cy="12458208"/>
          </a:xfrm>
        </p:spPr>
        <p:txBody>
          <a:bodyPr anchor="b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731751"/>
            <a:ext cx="30469032" cy="7266787"/>
          </a:xfrm>
        </p:spPr>
        <p:txBody>
          <a:bodyPr anchor="t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46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9448" y="2926080"/>
            <a:ext cx="29146474" cy="14508480"/>
          </a:xfrm>
        </p:spPr>
        <p:txBody>
          <a:bodyPr anchor="ctr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26066" y="19263360"/>
            <a:ext cx="30469037" cy="246839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152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194560" indent="0">
              <a:buFontTx/>
              <a:buNone/>
              <a:defRPr/>
            </a:lvl2pPr>
            <a:lvl3pPr marL="4389120" indent="0">
              <a:buFontTx/>
              <a:buNone/>
              <a:defRPr/>
            </a:lvl3pPr>
            <a:lvl4pPr marL="6583680" indent="0">
              <a:buFontTx/>
              <a:buNone/>
              <a:defRPr/>
            </a:lvl4pPr>
            <a:lvl5pPr marL="877824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731751"/>
            <a:ext cx="30469032" cy="7266787"/>
          </a:xfrm>
        </p:spPr>
        <p:txBody>
          <a:bodyPr anchor="t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317015" y="3793814"/>
            <a:ext cx="2195131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/>
          <a:p>
            <a:pPr lvl="0"/>
            <a:r>
              <a:rPr lang="en-US" sz="384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88958" y="13855469"/>
            <a:ext cx="2195131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/>
          <a:p>
            <a:pPr lvl="0"/>
            <a:r>
              <a:rPr lang="en-US" sz="384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0957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6073" y="2926080"/>
            <a:ext cx="30439032" cy="14508480"/>
          </a:xfrm>
        </p:spPr>
        <p:txBody>
          <a:bodyPr anchor="ctr">
            <a:normAutofit/>
          </a:bodyPr>
          <a:lstStyle>
            <a:lvl1pPr algn="l">
              <a:defRPr sz="2112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26066" y="19263360"/>
            <a:ext cx="30469037" cy="246839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1520">
                <a:solidFill>
                  <a:schemeClr val="accent1"/>
                </a:solidFill>
              </a:defRPr>
            </a:lvl1pPr>
            <a:lvl2pPr marL="2194560" indent="0">
              <a:buFontTx/>
              <a:buNone/>
              <a:defRPr/>
            </a:lvl2pPr>
            <a:lvl3pPr marL="4389120" indent="0">
              <a:buFontTx/>
              <a:buNone/>
              <a:defRPr/>
            </a:lvl3pPr>
            <a:lvl4pPr marL="6583680" indent="0">
              <a:buFontTx/>
              <a:buNone/>
              <a:defRPr/>
            </a:lvl4pPr>
            <a:lvl5pPr marL="877824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3" y="21731751"/>
            <a:ext cx="30469032" cy="7266787"/>
          </a:xfrm>
        </p:spPr>
        <p:txBody>
          <a:bodyPr anchor="t">
            <a:normAutofit/>
          </a:bodyPr>
          <a:lstStyle>
            <a:lvl1pPr marL="0" indent="0" algn="l">
              <a:buNone/>
              <a:defRPr sz="864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90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1129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691097" y="2926082"/>
            <a:ext cx="4698298" cy="25206965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26075" y="2926082"/>
            <a:ext cx="24936125" cy="252069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2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40639" y="-40644"/>
            <a:ext cx="44015064" cy="32999688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26078" y="2926080"/>
            <a:ext cx="30469022" cy="63398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75" y="10370835"/>
            <a:ext cx="30469027" cy="18627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945238" y="28998545"/>
            <a:ext cx="3283834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5B6CC-7B7F-3A48-B962-EF0D15DF2FDF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6078" y="28998545"/>
            <a:ext cx="2219027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34445" y="28998545"/>
            <a:ext cx="2460662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accent1"/>
                </a:solidFill>
              </a:defRPr>
            </a:lvl1pPr>
          </a:lstStyle>
          <a:p>
            <a:fld id="{078170A9-B3CF-6248-B2FE-6D2C1F99A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09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2194560" rtl="0" eaLnBrk="1" latinLnBrk="0" hangingPunct="1">
        <a:spcBef>
          <a:spcPct val="0"/>
        </a:spcBef>
        <a:buNone/>
        <a:defRPr sz="1728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645920" indent="-164592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86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566160" indent="-137160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7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7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68096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7552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07008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26464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45920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8653760" indent="-1097280" algn="l" defTabSz="2194560" rtl="0" eaLnBrk="1" latinLnBrk="0" hangingPunct="1">
        <a:spcBef>
          <a:spcPts val="48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E2173-BBA0-C06E-66F3-1D687E7D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3C3A0-F28C-CDEC-279F-31867A42B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DB99A-80B2-776A-EFBA-5BEB3C78A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891200" cy="3291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3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891200" cy="3291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CD9B0B-58FF-06CE-1C20-6874B701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7" y="2926080"/>
            <a:ext cx="30948005" cy="63398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700" dirty="0"/>
              <a:t>Web-Scraped Phishing URL Analysis Using Google Safe Browsing API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3033345" cy="27197539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AF0EF-229C-EAC3-619E-4B476E2E5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7" y="10370827"/>
            <a:ext cx="30948005" cy="1862771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6000" b="1" dirty="0"/>
              <a:t>Research Question</a:t>
            </a:r>
          </a:p>
          <a:p>
            <a:pPr>
              <a:lnSpc>
                <a:spcPct val="90000"/>
              </a:lnSpc>
            </a:pPr>
            <a:r>
              <a:rPr lang="en-US" sz="6000" dirty="0"/>
              <a:t>How accurately does Google Safe Browsing detect unsafe URLs collected from real-world sources (public sites + threat feeds)? </a:t>
            </a:r>
          </a:p>
          <a:p>
            <a:pPr marL="0" indent="0">
              <a:lnSpc>
                <a:spcPct val="90000"/>
              </a:lnSpc>
              <a:buNone/>
            </a:pPr>
            <a:endParaRPr lang="en-US" sz="60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6000" b="1" dirty="0"/>
              <a:t>Most Important Discovery</a:t>
            </a:r>
          </a:p>
          <a:p>
            <a:pPr>
              <a:lnSpc>
                <a:spcPct val="90000"/>
              </a:lnSpc>
            </a:pPr>
            <a:r>
              <a:rPr lang="en-US" sz="6000" dirty="0"/>
              <a:t>A significant portion of URLs expected to be unsafe were </a:t>
            </a:r>
            <a:r>
              <a:rPr lang="en-US" sz="6000" b="1" dirty="0"/>
              <a:t>not detected</a:t>
            </a:r>
            <a:r>
              <a:rPr lang="en-US" sz="6000" dirty="0"/>
              <a:t> by the API → clear </a:t>
            </a:r>
            <a:r>
              <a:rPr lang="en-US" sz="6000" b="1" dirty="0"/>
              <a:t>detection gap</a:t>
            </a:r>
            <a:r>
              <a:rPr lang="en-US" sz="6000" dirty="0"/>
              <a:t>. </a:t>
            </a:r>
          </a:p>
          <a:p>
            <a:pPr marL="0" indent="0">
              <a:lnSpc>
                <a:spcPct val="90000"/>
              </a:lnSpc>
              <a:buNone/>
            </a:pPr>
            <a:endParaRPr lang="en-US" sz="60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6000" b="1" dirty="0"/>
              <a:t>90-Second Critical Info</a:t>
            </a:r>
          </a:p>
          <a:p>
            <a:pPr>
              <a:lnSpc>
                <a:spcPct val="90000"/>
              </a:lnSpc>
            </a:pPr>
            <a:r>
              <a:rPr lang="en-US" sz="6000" dirty="0"/>
              <a:t>Collected real-world URLs (safe + unsafe) </a:t>
            </a:r>
          </a:p>
          <a:p>
            <a:pPr>
              <a:lnSpc>
                <a:spcPct val="90000"/>
              </a:lnSpc>
            </a:pPr>
            <a:r>
              <a:rPr lang="en-US" sz="6000" dirty="0"/>
              <a:t>Classified them using Google Safe Browsing </a:t>
            </a:r>
          </a:p>
          <a:p>
            <a:pPr>
              <a:lnSpc>
                <a:spcPct val="90000"/>
              </a:lnSpc>
            </a:pPr>
            <a:r>
              <a:rPr lang="en-US" sz="6000" dirty="0"/>
              <a:t>Compared </a:t>
            </a:r>
            <a:r>
              <a:rPr lang="en-US" sz="6000" b="1" dirty="0"/>
              <a:t>expected vs detected</a:t>
            </a:r>
            <a:r>
              <a:rPr lang="en-US" sz="6000" dirty="0"/>
              <a:t> outcomes </a:t>
            </a:r>
          </a:p>
          <a:p>
            <a:pPr>
              <a:lnSpc>
                <a:spcPct val="90000"/>
              </a:lnSpc>
            </a:pPr>
            <a:r>
              <a:rPr lang="en-US" sz="6000" dirty="0"/>
              <a:t>Found that detection works for known threats but </a:t>
            </a:r>
            <a:r>
              <a:rPr lang="en-US" sz="6000" b="1" dirty="0"/>
              <a:t>misses many real-world unsafe URLs</a:t>
            </a:r>
            <a:endParaRPr lang="en-US" sz="6000" dirty="0"/>
          </a:p>
          <a:p>
            <a:pPr>
              <a:lnSpc>
                <a:spcPct val="90000"/>
              </a:lnSpc>
            </a:pPr>
            <a:endParaRPr lang="en-US" sz="6000" dirty="0"/>
          </a:p>
        </p:txBody>
      </p:sp>
      <p:sp>
        <p:nvSpPr>
          <p:cNvPr id="33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275761" y="19263360"/>
            <a:ext cx="1615439" cy="1365504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70494" y="7010400"/>
            <a:ext cx="0" cy="18897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4F91E92-CA68-57BF-DF79-30897195A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1" y="3919862"/>
            <a:ext cx="12122492" cy="25078675"/>
          </a:xfrm>
        </p:spPr>
        <p:txBody>
          <a:bodyPr anchor="ctr">
            <a:normAutofit/>
          </a:bodyPr>
          <a:lstStyle/>
          <a:p>
            <a:r>
              <a:rPr lang="en-US" dirty="0"/>
              <a:t>Raw 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B34B5-82FF-D6EF-9DD4-39079552E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55462" y="3919862"/>
            <a:ext cx="16630941" cy="2507867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7300" b="1"/>
              <a:t>Sources</a:t>
            </a:r>
          </a:p>
          <a:p>
            <a:pPr>
              <a:lnSpc>
                <a:spcPct val="90000"/>
              </a:lnSpc>
            </a:pPr>
            <a:r>
              <a:rPr lang="en-US" sz="7300" b="1"/>
              <a:t>Safe URLs:</a:t>
            </a:r>
            <a:r>
              <a:rPr lang="en-US" sz="7300"/>
              <a:t> BBC, CNN, Wikipedia </a:t>
            </a:r>
          </a:p>
          <a:p>
            <a:pPr>
              <a:lnSpc>
                <a:spcPct val="90000"/>
              </a:lnSpc>
            </a:pPr>
            <a:r>
              <a:rPr lang="en-US" sz="7300" b="1"/>
              <a:t>Unsafe URLs:</a:t>
            </a:r>
            <a:r>
              <a:rPr lang="en-US" sz="7300"/>
              <a:t> OpenPhish, URLhaus </a:t>
            </a:r>
          </a:p>
          <a:p>
            <a:pPr marL="0" indent="0">
              <a:lnSpc>
                <a:spcPct val="90000"/>
              </a:lnSpc>
              <a:buNone/>
            </a:pPr>
            <a:endParaRPr lang="en-US" sz="7300" b="1"/>
          </a:p>
          <a:p>
            <a:pPr marL="0" indent="0">
              <a:lnSpc>
                <a:spcPct val="90000"/>
              </a:lnSpc>
              <a:buNone/>
            </a:pPr>
            <a:r>
              <a:rPr lang="en-US" sz="7300" b="1"/>
              <a:t>Extraction Method</a:t>
            </a:r>
          </a:p>
          <a:p>
            <a:pPr>
              <a:lnSpc>
                <a:spcPct val="90000"/>
              </a:lnSpc>
            </a:pPr>
            <a:r>
              <a:rPr lang="en-US" sz="7300"/>
              <a:t>Python (</a:t>
            </a:r>
            <a:r>
              <a:rPr lang="en-US" sz="7300" b="1"/>
              <a:t>Requests</a:t>
            </a:r>
            <a:r>
              <a:rPr lang="en-US" sz="7300"/>
              <a:t>, </a:t>
            </a:r>
            <a:r>
              <a:rPr lang="en-US" sz="7300" b="1"/>
              <a:t>BeautifulSoup</a:t>
            </a:r>
            <a:r>
              <a:rPr lang="en-US" sz="7300"/>
              <a:t>) </a:t>
            </a:r>
          </a:p>
          <a:p>
            <a:pPr>
              <a:lnSpc>
                <a:spcPct val="90000"/>
              </a:lnSpc>
            </a:pPr>
            <a:r>
              <a:rPr lang="en-US" sz="7300"/>
              <a:t>Web scraping for public sites + parsing threat feeds </a:t>
            </a:r>
          </a:p>
          <a:p>
            <a:pPr>
              <a:lnSpc>
                <a:spcPct val="90000"/>
              </a:lnSpc>
            </a:pPr>
            <a:r>
              <a:rPr lang="en-US" sz="7300"/>
              <a:t>Automated collection and storage of URLs </a:t>
            </a:r>
          </a:p>
          <a:p>
            <a:pPr marL="0" indent="0">
              <a:lnSpc>
                <a:spcPct val="90000"/>
              </a:lnSpc>
              <a:buNone/>
            </a:pPr>
            <a:endParaRPr lang="en-US" sz="7300" b="1"/>
          </a:p>
          <a:p>
            <a:pPr marL="0" indent="0">
              <a:lnSpc>
                <a:spcPct val="90000"/>
              </a:lnSpc>
              <a:buNone/>
            </a:pPr>
            <a:r>
              <a:rPr lang="en-US" sz="7300" b="1"/>
              <a:t>Available Data</a:t>
            </a:r>
          </a:p>
          <a:p>
            <a:pPr>
              <a:lnSpc>
                <a:spcPct val="90000"/>
              </a:lnSpc>
            </a:pPr>
            <a:r>
              <a:rPr lang="en-US" sz="7300"/>
              <a:t>URL strings </a:t>
            </a:r>
          </a:p>
          <a:p>
            <a:pPr>
              <a:lnSpc>
                <a:spcPct val="90000"/>
              </a:lnSpc>
            </a:pPr>
            <a:r>
              <a:rPr lang="en-US" sz="7300"/>
              <a:t>Expected labels (Safe / Unsafe) </a:t>
            </a:r>
          </a:p>
          <a:p>
            <a:pPr>
              <a:lnSpc>
                <a:spcPct val="90000"/>
              </a:lnSpc>
            </a:pPr>
            <a:r>
              <a:rPr lang="en-US" sz="7300"/>
              <a:t>Small set of </a:t>
            </a:r>
            <a:r>
              <a:rPr lang="en-US" sz="7300" b="1"/>
              <a:t>validation URLs</a:t>
            </a:r>
            <a:r>
              <a:rPr lang="en-US" sz="7300"/>
              <a:t> (known phishing/malware) to verify detection behavior</a:t>
            </a:r>
          </a:p>
          <a:p>
            <a:pPr>
              <a:lnSpc>
                <a:spcPct val="90000"/>
              </a:lnSpc>
            </a:pPr>
            <a:endParaRPr lang="en-US" sz="7300"/>
          </a:p>
        </p:txBody>
      </p:sp>
    </p:spTree>
    <p:extLst>
      <p:ext uri="{BB962C8B-B14F-4D97-AF65-F5344CB8AC3E}">
        <p14:creationId xmlns:p14="http://schemas.microsoft.com/office/powerpoint/2010/main" val="403542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0D09-C7FD-B1DB-B29F-29FAB741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400" dirty="0"/>
              <a:t>Data Processing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29267-571E-90FF-96D0-292F621B8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078" y="8846835"/>
            <a:ext cx="25115522" cy="185684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Data Cleaning</a:t>
            </a:r>
          </a:p>
          <a:p>
            <a:r>
              <a:rPr lang="en-US" dirty="0"/>
              <a:t>Removed duplicate URLs </a:t>
            </a:r>
          </a:p>
          <a:p>
            <a:r>
              <a:rPr lang="en-US" dirty="0"/>
              <a:t>Filtered invalid/broken links </a:t>
            </a:r>
          </a:p>
          <a:p>
            <a:r>
              <a:rPr lang="en-US" dirty="0"/>
              <a:t>Kept only valid HTTP/HTTPS URLs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Statistics &amp; Analysis</a:t>
            </a:r>
          </a:p>
          <a:p>
            <a:r>
              <a:rPr lang="en-US" dirty="0"/>
              <a:t>Count of </a:t>
            </a:r>
            <a:r>
              <a:rPr lang="en-US" b="1" dirty="0"/>
              <a:t>Detected Safe vs Detected Unsafe</a:t>
            </a:r>
            <a:r>
              <a:rPr lang="en-US" dirty="0"/>
              <a:t> </a:t>
            </a:r>
          </a:p>
          <a:p>
            <a:r>
              <a:rPr lang="en-US" b="1" dirty="0"/>
              <a:t>Expected vs Detected</a:t>
            </a:r>
            <a:r>
              <a:rPr lang="en-US" dirty="0"/>
              <a:t> comparison (accuracy / mismatch) </a:t>
            </a:r>
          </a:p>
          <a:p>
            <a:r>
              <a:rPr lang="en-US" dirty="0"/>
              <a:t>Frequency of </a:t>
            </a:r>
            <a:r>
              <a:rPr lang="en-US" b="1" dirty="0"/>
              <a:t>suspicious keywords</a:t>
            </a:r>
            <a:r>
              <a:rPr lang="en-US" dirty="0"/>
              <a:t> (login, secure, account) </a:t>
            </a:r>
          </a:p>
          <a:p>
            <a:r>
              <a:rPr lang="en-US" b="1" dirty="0"/>
              <a:t>URL structure metrics</a:t>
            </a:r>
            <a:r>
              <a:rPr lang="en-US" dirty="0"/>
              <a:t> (e.g., length, unusual patterns)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570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891200" cy="3291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2E05A1-9119-B837-D972-4125BB982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7" y="2926080"/>
            <a:ext cx="30948005" cy="6339840"/>
          </a:xfrm>
        </p:spPr>
        <p:txBody>
          <a:bodyPr>
            <a:normAutofit/>
          </a:bodyPr>
          <a:lstStyle/>
          <a:p>
            <a:r>
              <a:rPr lang="en-US"/>
              <a:t>Results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3033345" cy="27197539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D4500-8A14-4095-4C79-0310304B1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7" y="7757028"/>
            <a:ext cx="16027393" cy="2094497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/>
              <a:t>What the Graphs Tell Us</a:t>
            </a:r>
          </a:p>
          <a:p>
            <a:r>
              <a:rPr lang="en-US"/>
              <a:t>There is a clear gap between expected unsafe URLs and those detected by the API </a:t>
            </a:r>
          </a:p>
          <a:p>
            <a:r>
              <a:rPr lang="en-US"/>
              <a:t>Many unsafe URLs were incorrectly marked as safe 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Key Observations</a:t>
            </a:r>
          </a:p>
          <a:p>
            <a:r>
              <a:rPr lang="en-US"/>
              <a:t>Phishing is the most common type of threat </a:t>
            </a:r>
          </a:p>
          <a:p>
            <a:r>
              <a:rPr lang="en-US"/>
              <a:t>Suspicious keywords appear frequently in unsafe URLs </a:t>
            </a:r>
          </a:p>
          <a:p>
            <a:r>
              <a:rPr lang="en-US"/>
              <a:t>Detection depends on known threat databases 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How This Can Be Improved</a:t>
            </a:r>
          </a:p>
          <a:p>
            <a:r>
              <a:rPr lang="en-US"/>
              <a:t>Use multiple detection tools instead of one API </a:t>
            </a:r>
          </a:p>
          <a:p>
            <a:r>
              <a:rPr lang="en-US"/>
              <a:t>Work with a larger dataset </a:t>
            </a:r>
          </a:p>
          <a:p>
            <a:r>
              <a:rPr lang="en-US"/>
              <a:t>Apply machine learning to detect unknown patterns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275761" y="19263360"/>
            <a:ext cx="1615439" cy="1365504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5D2AE-E79E-4CD7-5709-6F633D10B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4308" y="3415704"/>
            <a:ext cx="11912593" cy="86826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D77E97-434D-1BE5-7483-2967D5263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5600" y="12587976"/>
            <a:ext cx="11912593" cy="84409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D97520-D247-B728-8F26-70915DA50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569" y="21673232"/>
            <a:ext cx="11404624" cy="844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7582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</TotalTime>
  <Words>297</Words>
  <Application>Microsoft Macintosh PowerPoint</Application>
  <PresentationFormat>Custom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Trebuchet MS</vt:lpstr>
      <vt:lpstr>Wingdings 3</vt:lpstr>
      <vt:lpstr>Facet</vt:lpstr>
      <vt:lpstr>PowerPoint Presentation</vt:lpstr>
      <vt:lpstr>Web-Scraped Phishing URL Analysis Using Google Safe Browsing API</vt:lpstr>
      <vt:lpstr>Raw Data Collection</vt:lpstr>
      <vt:lpstr>Data Processing &amp; Analysis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Derangula,Devendra Janardhan Maharaj</dc:creator>
  <cp:lastModifiedBy>Derangula,Devendra Janardhan Maharaj</cp:lastModifiedBy>
  <cp:revision>1</cp:revision>
  <dcterms:created xsi:type="dcterms:W3CDTF">2026-04-29T03:44:50Z</dcterms:created>
  <dcterms:modified xsi:type="dcterms:W3CDTF">2026-04-29T04:24:34Z</dcterms:modified>
</cp:coreProperties>
</file>